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5F9"/>
    <a:srgbClr val="6A7385"/>
    <a:srgbClr val="1318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5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360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8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548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52176" y="548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771632" y="548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991088" y="548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210544" y="548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0" y="548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332720" y="768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52176" y="768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71632" y="768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91088" y="768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210544" y="768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0" y="768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332720" y="987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552176" y="987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771632" y="987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991088" y="987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210544" y="987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30000" y="987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332720" y="1207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552176" y="1207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771632" y="1207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991088" y="1207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210544" y="1207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430000" y="1207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332720" y="142646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0552176" y="142646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0771632" y="142646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0991088" y="142646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1210544" y="142646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1430000" y="142646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332720" y="164592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0552176" y="164592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0771632" y="164592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991088" y="164592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210544" y="164592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1430000" y="164592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233172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kern="0" spc="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AETHER</a:t>
            </a:r>
            <a:endParaRPr lang="en-US" sz="6000" dirty="0"/>
          </a:p>
        </p:txBody>
      </p:sp>
      <p:sp>
        <p:nvSpPr>
          <p:cNvPr id="39" name="Text 37"/>
          <p:cNvSpPr/>
          <p:nvPr/>
        </p:nvSpPr>
        <p:spPr>
          <a:xfrm>
            <a:off x="868680" y="342900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Disaster Response &amp; Relief Management System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868680" y="4160520"/>
            <a:ext cx="1005840" cy="0"/>
          </a:xfrm>
          <a:prstGeom prst="line">
            <a:avLst/>
          </a:prstGeom>
          <a:noFill/>
          <a:ln w="31750">
            <a:solidFill>
              <a:srgbClr val="FF6A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868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kern="0" spc="100" dirty="0">
                <a:solidFill>
                  <a:srgbClr val="FF6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  →   VERIFY   →   EQUIP   →   EVACUATE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8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Response Today</a:t>
            </a:r>
            <a:endParaRPr lang="en-US" sz="3000" dirty="0">
              <a:solidFill>
                <a:srgbClr val="F3F5F9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systems, delayed information, and manual coordination cost critical time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74920" cy="1965960"/>
          </a:xfrm>
          <a:prstGeom prst="roundRect">
            <a:avLst>
              <a:gd name="adj" fmla="val 3721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  <a:effectLst>
            <a:outerShdw blurRad="76200" dist="25400" dir="5400000" algn="bl" rotWithShape="0">
              <a:srgbClr val="9AA5B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65960"/>
            <a:ext cx="566928" cy="566928"/>
          </a:xfrm>
          <a:prstGeom prst="ellipse">
            <a:avLst/>
          </a:prstGeom>
          <a:solidFill>
            <a:srgbClr val="13182A"/>
          </a:solidFill>
          <a:ln/>
        </p:spPr>
      </p:sp>
      <p:pic>
        <p:nvPicPr>
          <p:cNvPr id="6" name="Image 0" descr="icons/p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093976"/>
            <a:ext cx="310896" cy="310896"/>
          </a:xfrm>
          <a:prstGeom prst="rect">
            <a:avLst/>
          </a:prstGeom>
          <a:solidFill>
            <a:srgbClr val="6A7385"/>
          </a:solidFill>
        </p:spPr>
      </p:pic>
      <p:sp>
        <p:nvSpPr>
          <p:cNvPr id="7" name="Text 4"/>
          <p:cNvSpPr/>
          <p:nvPr/>
        </p:nvSpPr>
        <p:spPr>
          <a:xfrm>
            <a:off x="1645920" y="1947672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Survivor Localization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32688" y="2743200"/>
            <a:ext cx="44897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manpower-heavy search across large debris zones.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074920" cy="1965960"/>
          </a:xfrm>
          <a:prstGeom prst="roundRect">
            <a:avLst>
              <a:gd name="adj" fmla="val 3721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  <a:effectLst>
            <a:outerShdw blurRad="76200" dist="25400" dir="5400000" algn="bl" rotWithShape="0">
              <a:srgbClr val="9AA5B8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46520" y="1965960"/>
            <a:ext cx="566928" cy="566928"/>
          </a:xfrm>
          <a:prstGeom prst="ellipse">
            <a:avLst/>
          </a:prstGeom>
          <a:solidFill>
            <a:srgbClr val="13182A"/>
          </a:solidFill>
          <a:ln/>
        </p:spPr>
      </p:sp>
      <p:pic>
        <p:nvPicPr>
          <p:cNvPr id="11" name="Image 1" descr="icons/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2093976"/>
            <a:ext cx="310896" cy="310896"/>
          </a:xfrm>
          <a:prstGeom prst="rect">
            <a:avLst/>
          </a:prstGeom>
          <a:solidFill>
            <a:srgbClr val="6A7385"/>
          </a:solidFill>
        </p:spPr>
      </p:pic>
      <p:sp>
        <p:nvSpPr>
          <p:cNvPr id="12" name="Text 8"/>
          <p:cNvSpPr/>
          <p:nvPr/>
        </p:nvSpPr>
        <p:spPr>
          <a:xfrm>
            <a:off x="7178040" y="1947672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False Positives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464808" y="2743200"/>
            <a:ext cx="44897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sensors misfire on hotspots, animals, stray devices.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069080"/>
            <a:ext cx="5074920" cy="1965960"/>
          </a:xfrm>
          <a:prstGeom prst="roundRect">
            <a:avLst>
              <a:gd name="adj" fmla="val 3721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  <a:effectLst>
            <a:outerShdw blurRad="76200" dist="25400" dir="5400000" algn="bl" rotWithShape="0">
              <a:srgbClr val="9AA5B8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343400"/>
            <a:ext cx="566928" cy="566928"/>
          </a:xfrm>
          <a:prstGeom prst="ellipse">
            <a:avLst/>
          </a:prstGeom>
          <a:solidFill>
            <a:srgbClr val="13182A"/>
          </a:solidFill>
          <a:ln/>
        </p:spPr>
      </p:sp>
      <p:pic>
        <p:nvPicPr>
          <p:cNvPr id="16" name="Image 2" descr="icons/rad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471416"/>
            <a:ext cx="310896" cy="310896"/>
          </a:xfrm>
          <a:prstGeom prst="rect">
            <a:avLst/>
          </a:prstGeom>
          <a:solidFill>
            <a:srgbClr val="6A7385"/>
          </a:solidFill>
        </p:spPr>
      </p:pic>
      <p:sp>
        <p:nvSpPr>
          <p:cNvPr id="17" name="Text 12"/>
          <p:cNvSpPr/>
          <p:nvPr/>
        </p:nvSpPr>
        <p:spPr>
          <a:xfrm>
            <a:off x="1645920" y="4325112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Situational Awareness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932688" y="5120640"/>
            <a:ext cx="44897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teams and command centers work off different data.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72200" y="4069080"/>
            <a:ext cx="5074920" cy="1965960"/>
          </a:xfrm>
          <a:prstGeom prst="roundRect">
            <a:avLst>
              <a:gd name="adj" fmla="val 3721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  <a:effectLst>
            <a:outerShdw blurRad="76200" dist="25400" dir="5400000" algn="bl" rotWithShape="0">
              <a:srgbClr val="9AA5B8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46520" y="4343400"/>
            <a:ext cx="566928" cy="566928"/>
          </a:xfrm>
          <a:prstGeom prst="ellipse">
            <a:avLst/>
          </a:prstGeom>
          <a:solidFill>
            <a:srgbClr val="13182A"/>
          </a:solidFill>
          <a:ln/>
        </p:spPr>
      </p:sp>
      <p:pic>
        <p:nvPicPr>
          <p:cNvPr id="21" name="Image 3" descr="icons/us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536" y="4471416"/>
            <a:ext cx="310896" cy="310896"/>
          </a:xfrm>
          <a:prstGeom prst="rect">
            <a:avLst/>
          </a:prstGeom>
          <a:solidFill>
            <a:srgbClr val="6A7385"/>
          </a:solidFill>
        </p:spPr>
      </p:pic>
      <p:sp>
        <p:nvSpPr>
          <p:cNvPr id="22" name="Text 16"/>
          <p:cNvSpPr/>
          <p:nvPr/>
        </p:nvSpPr>
        <p:spPr>
          <a:xfrm>
            <a:off x="7178040" y="4325112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Cross-Team Coordination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464808" y="5120640"/>
            <a:ext cx="44897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Rescue, logistics, and shelter teams relay updates by hand.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1D2440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41732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the time required to identify probable survivors, manage critical relief resources, and allocate evacuees to suitable shelters — by building an integrated, real-time decision-support platform combining multi-sensor UAV detection, connected inventory, and live shelter intelligence.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048256" cy="2606040"/>
          </a:xfrm>
          <a:prstGeom prst="roundRect">
            <a:avLst>
              <a:gd name="adj" fmla="val 3571"/>
            </a:avLst>
          </a:prstGeom>
          <a:solidFill>
            <a:srgbClr val="1D2440"/>
          </a:solidFill>
          <a:ln w="9525">
            <a:solidFill>
              <a:srgbClr val="B14A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364992"/>
            <a:ext cx="20482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4069080"/>
            <a:ext cx="18653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4480560"/>
            <a:ext cx="17190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dashboard for detection, inventory &amp; shelters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34640" y="3200400"/>
            <a:ext cx="2048256" cy="2606040"/>
          </a:xfrm>
          <a:prstGeom prst="roundRect">
            <a:avLst>
              <a:gd name="adj" fmla="val 3571"/>
            </a:avLst>
          </a:prstGeom>
          <a:solidFill>
            <a:srgbClr val="1D2440"/>
          </a:solidFill>
          <a:ln w="9525">
            <a:solidFill>
              <a:srgbClr val="B14A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3364992"/>
            <a:ext cx="20482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26080" y="4069080"/>
            <a:ext cx="18653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99232" y="4480560"/>
            <a:ext cx="17190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search, better visibility, less overcrowding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0" y="3200400"/>
            <a:ext cx="2048256" cy="2606040"/>
          </a:xfrm>
          <a:prstGeom prst="roundRect">
            <a:avLst>
              <a:gd name="adj" fmla="val 3571"/>
            </a:avLst>
          </a:prstGeom>
          <a:solidFill>
            <a:srgbClr val="1D2440"/>
          </a:solidFill>
          <a:ln w="9525">
            <a:solidFill>
              <a:srgbClr val="B14A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0" y="3364992"/>
            <a:ext cx="20482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120640" y="4069080"/>
            <a:ext cx="18653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Achievable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93792" y="4480560"/>
            <a:ext cx="17190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UAVs, BLE, thermal, RFID, Cisco networking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223760" y="3200400"/>
            <a:ext cx="2048256" cy="2606040"/>
          </a:xfrm>
          <a:prstGeom prst="roundRect">
            <a:avLst>
              <a:gd name="adj" fmla="val 3571"/>
            </a:avLst>
          </a:prstGeom>
          <a:solidFill>
            <a:srgbClr val="1D2440"/>
          </a:solidFill>
          <a:ln w="9525">
            <a:solidFill>
              <a:srgbClr val="B14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23760" y="3364992"/>
            <a:ext cx="20482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315200" y="4069080"/>
            <a:ext cx="18653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88352" y="4480560"/>
            <a:ext cx="17190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the highest-impact first hours of response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3200400"/>
            <a:ext cx="2048256" cy="2606040"/>
          </a:xfrm>
          <a:prstGeom prst="roundRect">
            <a:avLst>
              <a:gd name="adj" fmla="val 3571"/>
            </a:avLst>
          </a:prstGeom>
          <a:solidFill>
            <a:srgbClr val="1D2440"/>
          </a:solidFill>
          <a:ln w="9525">
            <a:solidFill>
              <a:srgbClr val="B14A2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0" y="3364992"/>
            <a:ext cx="20482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6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509760" y="4069080"/>
            <a:ext cx="18653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Time-Bound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582912" y="4480560"/>
            <a:ext cx="17190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awareness through the first 24–72 hrs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AETHER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 decision-support platform that enhances — not replaces — existing rescue operations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331720" cy="2834640"/>
          </a:xfrm>
          <a:prstGeom prst="roundRect">
            <a:avLst>
              <a:gd name="adj" fmla="val 3529"/>
            </a:avLst>
          </a:prstGeom>
          <a:solidFill>
            <a:srgbClr val="13182A"/>
          </a:solidFill>
          <a:ln/>
        </p:spPr>
      </p:sp>
      <p:sp>
        <p:nvSpPr>
          <p:cNvPr id="5" name="Shape 3"/>
          <p:cNvSpPr/>
          <p:nvPr/>
        </p:nvSpPr>
        <p:spPr>
          <a:xfrm>
            <a:off x="1467612" y="2468880"/>
            <a:ext cx="768096" cy="768096"/>
          </a:xfrm>
          <a:prstGeom prst="ellipse">
            <a:avLst/>
          </a:prstGeom>
          <a:solidFill>
            <a:srgbClr val="FF6A3D"/>
          </a:solidFill>
          <a:ln/>
        </p:spPr>
      </p:sp>
      <p:pic>
        <p:nvPicPr>
          <p:cNvPr id="6" name="Image 0" descr="icons/target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492" y="2651760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3832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150" dirty="0">
                <a:solidFill>
                  <a:srgbClr val="FF6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86968" y="3794760"/>
            <a:ext cx="192938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D6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UAVs locate probable survivors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3035808" y="320040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37560" y="2148840"/>
            <a:ext cx="2331720" cy="2834640"/>
          </a:xfrm>
          <a:prstGeom prst="roundRect">
            <a:avLst>
              <a:gd name="adj" fmla="val 3529"/>
            </a:avLst>
          </a:prstGeom>
          <a:solidFill>
            <a:srgbClr val="13182A"/>
          </a:solidFill>
          <a:ln/>
        </p:spPr>
      </p:sp>
      <p:sp>
        <p:nvSpPr>
          <p:cNvPr id="11" name="Shape 8"/>
          <p:cNvSpPr/>
          <p:nvPr/>
        </p:nvSpPr>
        <p:spPr>
          <a:xfrm>
            <a:off x="4119372" y="2468880"/>
            <a:ext cx="768096" cy="768096"/>
          </a:xfrm>
          <a:prstGeom prst="ellipse">
            <a:avLst/>
          </a:prstGeom>
          <a:solidFill>
            <a:srgbClr val="FF6A3D"/>
          </a:solidFill>
          <a:ln/>
        </p:spPr>
      </p:sp>
      <p:pic>
        <p:nvPicPr>
          <p:cNvPr id="12" name="Image 1" descr="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2252" y="265176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29000" y="33832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150" dirty="0">
                <a:solidFill>
                  <a:srgbClr val="FF6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538728" y="3794760"/>
            <a:ext cx="192938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D6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 filters false positives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687568" y="320040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5989320" y="2148840"/>
            <a:ext cx="2331720" cy="2834640"/>
          </a:xfrm>
          <a:prstGeom prst="roundRect">
            <a:avLst>
              <a:gd name="adj" fmla="val 3529"/>
            </a:avLst>
          </a:prstGeom>
          <a:solidFill>
            <a:srgbClr val="13182A"/>
          </a:solidFill>
          <a:ln/>
        </p:spPr>
      </p:sp>
      <p:sp>
        <p:nvSpPr>
          <p:cNvPr id="17" name="Shape 13"/>
          <p:cNvSpPr/>
          <p:nvPr/>
        </p:nvSpPr>
        <p:spPr>
          <a:xfrm>
            <a:off x="6771132" y="2468880"/>
            <a:ext cx="768096" cy="768096"/>
          </a:xfrm>
          <a:prstGeom prst="ellipse">
            <a:avLst/>
          </a:prstGeom>
          <a:solidFill>
            <a:srgbClr val="FF6A3D"/>
          </a:solidFill>
          <a:ln/>
        </p:spPr>
      </p:sp>
      <p:pic>
        <p:nvPicPr>
          <p:cNvPr id="18" name="Image 2" descr="icons/pack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4012" y="265176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080760" y="33832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150" dirty="0">
                <a:solidFill>
                  <a:srgbClr val="FF6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190488" y="3794760"/>
            <a:ext cx="192938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D6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 inventory tracked &amp; dispatched in real time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339328" y="320040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641080" y="2148840"/>
            <a:ext cx="2331720" cy="2834640"/>
          </a:xfrm>
          <a:prstGeom prst="roundRect">
            <a:avLst>
              <a:gd name="adj" fmla="val 3529"/>
            </a:avLst>
          </a:prstGeom>
          <a:solidFill>
            <a:srgbClr val="13182A"/>
          </a:solidFill>
          <a:ln/>
        </p:spPr>
      </p:sp>
      <p:sp>
        <p:nvSpPr>
          <p:cNvPr id="23" name="Shape 18"/>
          <p:cNvSpPr/>
          <p:nvPr/>
        </p:nvSpPr>
        <p:spPr>
          <a:xfrm>
            <a:off x="9422892" y="2468880"/>
            <a:ext cx="768096" cy="768096"/>
          </a:xfrm>
          <a:prstGeom prst="ellipse">
            <a:avLst/>
          </a:prstGeom>
          <a:solidFill>
            <a:srgbClr val="FF6A3D"/>
          </a:solidFill>
          <a:ln/>
        </p:spPr>
      </p:sp>
      <p:pic>
        <p:nvPicPr>
          <p:cNvPr id="24" name="Image 3" descr="icons/home-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5772" y="2651760"/>
            <a:ext cx="402336" cy="40233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732520" y="33832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150" dirty="0">
                <a:solidFill>
                  <a:srgbClr val="FF6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8842248" y="3794760"/>
            <a:ext cx="192938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D6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Evacuees routed to the nearest suitable shelter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Core Modules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targets a distinct phase of the emergency response workflow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3657600"/>
          </a:xfrm>
          <a:prstGeom prst="roundRect">
            <a:avLst>
              <a:gd name="adj" fmla="val 2400"/>
            </a:avLst>
          </a:prstGeom>
          <a:solidFill>
            <a:srgbClr val="13182A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11680"/>
            <a:ext cx="640080" cy="640080"/>
          </a:xfrm>
          <a:prstGeom prst="ellipse">
            <a:avLst/>
          </a:prstGeom>
          <a:solidFill>
            <a:srgbClr val="FF6A3D"/>
          </a:solidFill>
          <a:ln/>
        </p:spPr>
      </p:sp>
      <p:pic>
        <p:nvPicPr>
          <p:cNvPr id="6" name="Image 0" descr="icons/ra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215798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2834640"/>
            <a:ext cx="28437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 Detection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32688" y="3657600"/>
            <a:ext cx="284378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BLE, thermal imaging &amp; UWB fused through a confidence-scoring engine to prioritize high-probability survivor locations.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5112" y="1691640"/>
            <a:ext cx="3429000" cy="3657600"/>
          </a:xfrm>
          <a:prstGeom prst="roundRect">
            <a:avLst>
              <a:gd name="adj" fmla="val 2400"/>
            </a:avLst>
          </a:prstGeom>
          <a:solidFill>
            <a:srgbClr val="13182A"/>
          </a:solidFill>
          <a:ln/>
        </p:spPr>
      </p:sp>
      <p:sp>
        <p:nvSpPr>
          <p:cNvPr id="10" name="Shape 7"/>
          <p:cNvSpPr/>
          <p:nvPr/>
        </p:nvSpPr>
        <p:spPr>
          <a:xfrm>
            <a:off x="4645152" y="2011680"/>
            <a:ext cx="640080" cy="640080"/>
          </a:xfrm>
          <a:prstGeom prst="ellipse">
            <a:avLst/>
          </a:prstGeom>
          <a:solidFill>
            <a:srgbClr val="FF6A3D"/>
          </a:solidFill>
          <a:ln/>
        </p:spPr>
      </p:sp>
      <p:pic>
        <p:nvPicPr>
          <p:cNvPr id="11" name="Image 1" descr="icons/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215798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7720" y="2834640"/>
            <a:ext cx="28437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Relief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Management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17720" y="3657600"/>
            <a:ext cx="284378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RFID/digital tags track supplies in real time, with low-stock alerts and centralized visibility across sites.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10144" y="1691640"/>
            <a:ext cx="3429000" cy="3657600"/>
          </a:xfrm>
          <a:prstGeom prst="roundRect">
            <a:avLst>
              <a:gd name="adj" fmla="val 2400"/>
            </a:avLst>
          </a:prstGeom>
          <a:solidFill>
            <a:srgbClr val="13182A"/>
          </a:solidFill>
          <a:ln/>
        </p:spPr>
      </p:sp>
      <p:sp>
        <p:nvSpPr>
          <p:cNvPr id="15" name="Shape 11"/>
          <p:cNvSpPr/>
          <p:nvPr/>
        </p:nvSpPr>
        <p:spPr>
          <a:xfrm>
            <a:off x="8330184" y="2011680"/>
            <a:ext cx="640080" cy="640080"/>
          </a:xfrm>
          <a:prstGeom prst="ellipse">
            <a:avLst/>
          </a:prstGeom>
          <a:solidFill>
            <a:srgbClr val="FF6A3D"/>
          </a:solidFill>
          <a:ln/>
        </p:spPr>
      </p:sp>
      <p:pic>
        <p:nvPicPr>
          <p:cNvPr id="16" name="Image 2" descr="icons/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488" y="2157984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02752" y="2834640"/>
            <a:ext cx="28437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Shelter Management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02752" y="3657600"/>
            <a:ext cx="284378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occupancy and GPS-based recommendations route evacuees to the nearest suitable shelter.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8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3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Customers &amp; Stakeholders</a:t>
            </a:r>
            <a:endParaRPr lang="en-US" sz="2800" dirty="0">
              <a:solidFill>
                <a:srgbClr val="F3F5F9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agencies that coordinate disaster response — not individual users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51176" cy="3246120"/>
          </a:xfrm>
          <a:prstGeom prst="roundRect">
            <a:avLst>
              <a:gd name="adj" fmla="val 2867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  <a:effectLst>
            <a:outerShdw blurRad="76200" dist="25400" dir="5400000" algn="bl" rotWithShape="0">
              <a:srgbClr val="9AA5B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86484" y="2075688"/>
            <a:ext cx="658368" cy="658368"/>
          </a:xfrm>
          <a:prstGeom prst="ellipse">
            <a:avLst/>
          </a:prstGeom>
          <a:solidFill>
            <a:srgbClr val="FF6A3D"/>
          </a:solidFill>
          <a:ln/>
        </p:spPr>
      </p:sp>
      <p:pic>
        <p:nvPicPr>
          <p:cNvPr id="6" name="Image 0" descr="icons/shield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932" y="2231136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26080"/>
            <a:ext cx="21854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Forces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68680" y="3566160"/>
            <a:ext cx="209397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NDRF, SDRF, fire &amp; emergency services, civil defence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10712" y="1783080"/>
            <a:ext cx="2551176" cy="3246120"/>
          </a:xfrm>
          <a:prstGeom prst="roundRect">
            <a:avLst>
              <a:gd name="adj" fmla="val 2867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  <a:effectLst>
            <a:outerShdw blurRad="76200" dist="25400" dir="5400000" algn="bl" rotWithShape="0">
              <a:srgbClr val="9AA5B8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57116" y="2075688"/>
            <a:ext cx="658368" cy="658368"/>
          </a:xfrm>
          <a:prstGeom prst="ellipse">
            <a:avLst/>
          </a:prstGeom>
          <a:solidFill>
            <a:srgbClr val="FF6A3D"/>
          </a:solidFill>
          <a:ln/>
        </p:spPr>
      </p:sp>
      <p:pic>
        <p:nvPicPr>
          <p:cNvPr id="11" name="Image 1" descr="icons/briefcas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2564" y="2231136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93592" y="2926080"/>
            <a:ext cx="21854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&amp; EOCs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639312" y="3566160"/>
            <a:ext cx="209397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SDMAs, municipal corporations, Emergency Operations Centers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81344" y="1783080"/>
            <a:ext cx="2551176" cy="3246120"/>
          </a:xfrm>
          <a:prstGeom prst="roundRect">
            <a:avLst>
              <a:gd name="adj" fmla="val 2867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  <a:effectLst>
            <a:outerShdw blurRad="76200" dist="25400" dir="5400000" algn="bl" rotWithShape="0">
              <a:srgbClr val="9AA5B8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27748" y="2075688"/>
            <a:ext cx="658368" cy="658368"/>
          </a:xfrm>
          <a:prstGeom prst="ellipse">
            <a:avLst/>
          </a:prstGeom>
          <a:solidFill>
            <a:srgbClr val="FF6A3D"/>
          </a:solidFill>
          <a:ln/>
        </p:spPr>
      </p:sp>
      <p:pic>
        <p:nvPicPr>
          <p:cNvPr id="16" name="Image 2" descr="icons/heart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3196" y="2231136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64224" y="2926080"/>
            <a:ext cx="21854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Humanitarian Organizations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09944" y="3566160"/>
            <a:ext cx="209397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Red Cross Society, NGOs, volunteer groups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51976" y="1783080"/>
            <a:ext cx="2551176" cy="3246120"/>
          </a:xfrm>
          <a:prstGeom prst="roundRect">
            <a:avLst>
              <a:gd name="adj" fmla="val 2867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  <a:effectLst>
            <a:outerShdw blurRad="76200" dist="25400" dir="5400000" algn="bl" rotWithShape="0">
              <a:srgbClr val="9AA5B8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898380" y="2075688"/>
            <a:ext cx="658368" cy="658368"/>
          </a:xfrm>
          <a:prstGeom prst="ellipse">
            <a:avLst/>
          </a:prstGeom>
          <a:solidFill>
            <a:srgbClr val="FF6A3D"/>
          </a:solidFill>
          <a:ln/>
        </p:spPr>
      </p:sp>
      <p:pic>
        <p:nvPicPr>
          <p:cNvPr id="21" name="Image 3" descr="icons/map-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3828" y="2231136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34856" y="2926080"/>
            <a:ext cx="21854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Infrastructure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180576" y="3566160"/>
            <a:ext cx="209397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cities, airports, ports, mining, oil &amp; gas, large campuses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for survivor detection, inventory, and shelter coordination — reducing manual handoffs across every stakeholder.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layered stack from field sensors to the command dashboard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9164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74720" y="16916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 ·  Tailwind CSS  ·  Figma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51460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0" y="251460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  ·  WebSockets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33756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333756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 ·  Firebase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3F5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16052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Hardware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416052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UAV (DJI/PX4)  ·  BLE  ·  UWB  ·  Thermal  ·  RFID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983480"/>
            <a:ext cx="23774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Network &amp; Ops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74720" y="498348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Meraki Mesh  ·  Cisco Spaces  ·  Splunk</a:t>
            </a:r>
            <a:endParaRPr lang="en-US" sz="1300" dirty="0">
              <a:solidFill>
                <a:srgbClr val="6A7385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8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5120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52176" y="5120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771632" y="5120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991088" y="5120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210544" y="5120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0" y="512064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332720" y="5340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52176" y="5340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71632" y="5340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91088" y="5340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210544" y="5340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0" y="534009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332720" y="5559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552176" y="5559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771632" y="5559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991088" y="5559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210544" y="5559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30000" y="555955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332720" y="5779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552176" y="5779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771632" y="5779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991088" y="5779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210544" y="5779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430000" y="577900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77724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68680" y="13716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AETHER turns the critical first hours of disaster response into a coordinated, data-driven operation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68680" y="2221992"/>
            <a:ext cx="457200" cy="457200"/>
          </a:xfrm>
          <a:prstGeom prst="ellipse">
            <a:avLst/>
          </a:prstGeom>
          <a:solidFill>
            <a:srgbClr val="1D2440"/>
          </a:solidFill>
          <a:ln w="12700">
            <a:solidFill>
              <a:srgbClr val="B14A28"/>
            </a:solidFill>
            <a:prstDash val="solid"/>
          </a:ln>
        </p:spPr>
      </p:sp>
      <p:pic>
        <p:nvPicPr>
          <p:cNvPr id="29" name="Image 0" descr="icons/ac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322576"/>
            <a:ext cx="256032" cy="256032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508760" y="214884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survivor identification through sensor fusion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68680" y="3108960"/>
            <a:ext cx="457200" cy="457200"/>
          </a:xfrm>
          <a:prstGeom prst="ellipse">
            <a:avLst/>
          </a:prstGeom>
          <a:solidFill>
            <a:srgbClr val="1D2440"/>
          </a:solidFill>
          <a:ln w="12700">
            <a:solidFill>
              <a:srgbClr val="B14A28"/>
            </a:solidFill>
            <a:prstDash val="solid"/>
          </a:ln>
        </p:spPr>
      </p:sp>
      <p:pic>
        <p:nvPicPr>
          <p:cNvPr id="32" name="Image 1" descr="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3209544"/>
            <a:ext cx="256032" cy="256032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1508760" y="3035808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inventory &amp; shelter visibility for command teams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868680" y="3995928"/>
            <a:ext cx="457200" cy="457200"/>
          </a:xfrm>
          <a:prstGeom prst="ellipse">
            <a:avLst/>
          </a:prstGeom>
          <a:solidFill>
            <a:srgbClr val="1D2440"/>
          </a:solidFill>
          <a:ln w="12700">
            <a:solidFill>
              <a:srgbClr val="B14A28"/>
            </a:solidFill>
            <a:prstDash val="solid"/>
          </a:ln>
        </p:spPr>
      </p:sp>
      <p:pic>
        <p:nvPicPr>
          <p:cNvPr id="35" name="Image 2" descr="icons/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4096512"/>
            <a:ext cx="256032" cy="256032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1508760" y="3922776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 connectivity even when infrastructure fails</a:t>
            </a:r>
            <a:endParaRPr lang="en-US" sz="1500" dirty="0"/>
          </a:p>
        </p:txBody>
      </p:sp>
      <p:sp>
        <p:nvSpPr>
          <p:cNvPr id="37" name="Shape 32"/>
          <p:cNvSpPr/>
          <p:nvPr/>
        </p:nvSpPr>
        <p:spPr>
          <a:xfrm>
            <a:off x="868680" y="4882896"/>
            <a:ext cx="457200" cy="457200"/>
          </a:xfrm>
          <a:prstGeom prst="ellipse">
            <a:avLst/>
          </a:prstGeom>
          <a:solidFill>
            <a:srgbClr val="1D2440"/>
          </a:solidFill>
          <a:ln w="12700">
            <a:solidFill>
              <a:srgbClr val="B14A28"/>
            </a:solidFill>
            <a:prstDash val="solid"/>
          </a:ln>
        </p:spPr>
      </p:sp>
      <p:pic>
        <p:nvPicPr>
          <p:cNvPr id="38" name="Image 3" descr="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64" y="4983480"/>
            <a:ext cx="256032" cy="256032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508760" y="4809744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 ready for AI routing &amp; predictive allocation</a:t>
            </a:r>
            <a:endParaRPr lang="en-US" sz="1500" dirty="0"/>
          </a:p>
        </p:txBody>
      </p:sp>
      <p:sp>
        <p:nvSpPr>
          <p:cNvPr id="41" name="Text 35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8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59436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33856" y="59436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353312" y="59436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572768" y="59436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792224" y="59436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011680" y="594360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81381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33856" y="81381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53312" y="81381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572768" y="81381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792224" y="81381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813816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103327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3856" y="103327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53312" y="103327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72768" y="103327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792224" y="103327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11680" y="1033272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" y="125272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33856" y="125272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53312" y="125272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572768" y="125272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792224" y="125272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1252728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14400" y="147218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33856" y="147218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353312" y="147218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72768" y="147218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792224" y="147218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011680" y="1472184"/>
            <a:ext cx="36576" cy="36576"/>
          </a:xfrm>
          <a:prstGeom prst="ellipse">
            <a:avLst/>
          </a:prstGeom>
          <a:solidFill>
            <a:srgbClr val="FF6A3D">
              <a:alpha val="4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260604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3" name="Shape 31"/>
          <p:cNvSpPr/>
          <p:nvPr/>
        </p:nvSpPr>
        <p:spPr>
          <a:xfrm>
            <a:off x="868680" y="3520440"/>
            <a:ext cx="1005840" cy="0"/>
          </a:xfrm>
          <a:prstGeom prst="line">
            <a:avLst/>
          </a:prstGeom>
          <a:noFill/>
          <a:ln w="31750">
            <a:solidFill>
              <a:srgbClr val="FF6A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37490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AETHER — AI-Powered Disaster Response &amp; Relief Management System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68680" y="4343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6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528</Words>
  <Application>Microsoft Office PowerPoint</Application>
  <PresentationFormat>Widescreen</PresentationFormat>
  <Paragraphs>103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Rasagna Abothula</cp:lastModifiedBy>
  <cp:revision>2</cp:revision>
  <dcterms:created xsi:type="dcterms:W3CDTF">2026-07-12T22:21:02Z</dcterms:created>
  <dcterms:modified xsi:type="dcterms:W3CDTF">2026-07-12T22:49:53Z</dcterms:modified>
</cp:coreProperties>
</file>