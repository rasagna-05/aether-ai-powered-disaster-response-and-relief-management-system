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1675"/>
  <p:notesSz cx="6858000" cy="12191675"/>
  <p:embeddedFontLst>
    <p:embeddedFont>
      <p:font typeface="Gelasi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Gelasio-boldItalic.fntdata"/><Relationship Id="rId10" Type="http://schemas.openxmlformats.org/officeDocument/2006/relationships/font" Target="fonts/Gelasio-italic.fntdata"/><Relationship Id="rId9" Type="http://schemas.openxmlformats.org/officeDocument/2006/relationships/font" Target="fonts/Gelasi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Gelasi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png"/><Relationship Id="rId7" Type="http://schemas.openxmlformats.org/officeDocument/2006/relationships/hyperlink" Target="https://github.com/Rasagna-05/AETHER-AI-Powered-Disaster-Response-and-Relief-Management-System" TargetMode="External"/><Relationship Id="rId8" Type="http://schemas.openxmlformats.org/officeDocument/2006/relationships/hyperlink" Target="https://aether-ai-powered-disaster-response.vercel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661475" y="1067495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700"/>
              <a:buFont typeface="Gelasio"/>
              <a:buNone/>
            </a:pPr>
            <a:r>
              <a:rPr b="0" i="0" lang="en-US" sz="37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AETHER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661475" y="1941612"/>
            <a:ext cx="6296860" cy="2445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5100"/>
              <a:buFont typeface="Gelasio"/>
              <a:buNone/>
            </a:pPr>
            <a:r>
              <a:rPr b="0" i="0" lang="en-US" sz="51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AI-Powered Disaster Response &amp; Relief Management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61475" y="4670623"/>
            <a:ext cx="6296860" cy="11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49F8C"/>
              </a:buClr>
              <a:buSzPts val="1450"/>
              <a:buFont typeface="Gelasio"/>
              <a:buNone/>
            </a:pPr>
            <a:r>
              <a:rPr b="1" i="0" lang="en-US" sz="1450" u="none" cap="none" strike="noStrike">
                <a:solidFill>
                  <a:srgbClr val="C49F8C"/>
                </a:solidFill>
                <a:latin typeface="Gelasio"/>
                <a:ea typeface="Gelasio"/>
                <a:cs typeface="Gelasio"/>
                <a:sym typeface="Gelasio"/>
              </a:rPr>
              <a:t>DETECT → VERIFY → EQUIP → EVACUATE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By </a:t>
            </a:r>
            <a:r>
              <a:rPr b="1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Team Code Blooded</a:t>
            </a: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— Rasagna Abothula · Harmanjeet Singh Kalsi · Sanjay S V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661475" y="975519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700"/>
              <a:buFont typeface="Gelasio"/>
              <a:buNone/>
            </a:pPr>
            <a:r>
              <a:rPr b="0" i="0" lang="en-US" sz="37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The Problem — and the AETHER Solution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661475" y="2038648"/>
            <a:ext cx="520379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What's Broken Today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661475" y="2522934"/>
            <a:ext cx="5203794" cy="2617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Char char="•"/>
            </a:pPr>
            <a:r>
              <a:rPr b="1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Delayed survivor localization</a:t>
            </a: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— manual searches across large debris zones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Char char="•"/>
            </a:pPr>
            <a:r>
              <a:rPr b="1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High false positives</a:t>
            </a: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— single sensors misfire on hotspots, animals, stray devices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Char char="•"/>
            </a:pPr>
            <a:r>
              <a:rPr b="1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Fragmented awareness</a:t>
            </a: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— field teams and command centers work off different data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Char char="•"/>
            </a:pPr>
            <a:r>
              <a:rPr b="1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Manual coordination</a:t>
            </a: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— rescue, logistics, and shelter teams relay updates by hand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332776" y="2038648"/>
            <a:ext cx="520379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How AETHER Responds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6332776" y="2546548"/>
            <a:ext cx="2507394" cy="1467148"/>
          </a:xfrm>
          <a:prstGeom prst="roundRect">
            <a:avLst>
              <a:gd fmla="val 1933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6521783" y="2735560"/>
            <a:ext cx="212938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DETECT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6521783" y="3219847"/>
            <a:ext cx="212938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Multi-sensor UAVs locate probable survivors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9029176" y="2546548"/>
            <a:ext cx="2507394" cy="1467148"/>
          </a:xfrm>
          <a:prstGeom prst="roundRect">
            <a:avLst>
              <a:gd fmla="val 1933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9218183" y="2735560"/>
            <a:ext cx="212938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VERIFY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9218183" y="3219847"/>
            <a:ext cx="212938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Confidence scoring filters false positives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332776" y="4202708"/>
            <a:ext cx="2507394" cy="1467148"/>
          </a:xfrm>
          <a:prstGeom prst="roundRect">
            <a:avLst>
              <a:gd fmla="val 1933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6521783" y="4391720"/>
            <a:ext cx="212938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EQUIP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521783" y="4876006"/>
            <a:ext cx="212938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Relief inventory tracked &amp; dispatched in real time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9029176" y="4202708"/>
            <a:ext cx="2507394" cy="1467148"/>
          </a:xfrm>
          <a:prstGeom prst="roundRect">
            <a:avLst>
              <a:gd fmla="val 1933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9218183" y="4391720"/>
            <a:ext cx="212938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EVACUATE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9218183" y="4876006"/>
            <a:ext cx="212938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Evacuees routed to the nearest suitable shelter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661475" y="771426"/>
            <a:ext cx="10868745" cy="413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600"/>
              <a:buFont typeface="Gelasio"/>
              <a:buNone/>
            </a:pPr>
            <a:r>
              <a:rPr b="0" i="0" lang="en-US" sz="26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Three Core Modules, One Unified Platform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370112"/>
            <a:ext cx="1439529" cy="88969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661475" y="2375495"/>
            <a:ext cx="3545791" cy="206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Multi-Sensor Survivor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661475" y="2637730"/>
            <a:ext cx="3545791" cy="539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000"/>
              <a:buFont typeface="Gelasio"/>
              <a:buNone/>
            </a:pPr>
            <a:r>
              <a:rPr b="0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BLE, thermal imaging &amp; UWB fused through a confidence-scoring engine to prioritize high-probability survivor locations.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2952" y="1370112"/>
            <a:ext cx="1439529" cy="88969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4322952" y="2375495"/>
            <a:ext cx="3545791" cy="206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Smart Relief Inventory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322952" y="2637730"/>
            <a:ext cx="3545791" cy="3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000"/>
              <a:buFont typeface="Gelasio"/>
              <a:buNone/>
            </a:pPr>
            <a:r>
              <a:rPr b="0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RFID/digital tags track supplies in real time, with low-stock alerts and centralized visibility across sites.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4429" y="1370112"/>
            <a:ext cx="1439529" cy="88969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7984429" y="2375495"/>
            <a:ext cx="3545791" cy="206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Intelligent Shelter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7984429" y="2637730"/>
            <a:ext cx="3545791" cy="3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000"/>
              <a:buFont typeface="Gelasio"/>
              <a:buNone/>
            </a:pPr>
            <a:r>
              <a:rPr b="0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Live occupancy and GPS-based recommendations route evacuees to the nearest suitable shelter.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61475" y="3374430"/>
            <a:ext cx="5273047" cy="206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Key Benefits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61475" y="3673673"/>
            <a:ext cx="5273047" cy="816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000"/>
              <a:buFont typeface="Gelasio"/>
              <a:buChar char="•"/>
            </a:pPr>
            <a:r>
              <a:rPr b="0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Faster survivor identification through sensor fusion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000"/>
              <a:buFont typeface="Gelasio"/>
              <a:buChar char="•"/>
            </a:pPr>
            <a:r>
              <a:rPr b="0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Real-time inventory &amp; shelter visibility for command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000"/>
              <a:buFont typeface="Gelasio"/>
              <a:buChar char="•"/>
            </a:pPr>
            <a:r>
              <a:rPr b="0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Resilient connectivity even when infrastructure fails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000"/>
              <a:buFont typeface="Gelasio"/>
              <a:buChar char="•"/>
            </a:pPr>
            <a:r>
              <a:rPr b="0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Modular design ready for AI routing &amp; predictive allocation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6263523" y="3374430"/>
            <a:ext cx="5273047" cy="206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Stakeholders &amp; Tech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263523" y="3673673"/>
            <a:ext cx="5273047" cy="1149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000"/>
              <a:buFont typeface="Gelasio"/>
              <a:buNone/>
            </a:pPr>
            <a:r>
              <a:rPr b="1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Response Forces</a:t>
            </a:r>
            <a:r>
              <a:rPr b="0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· NDRF, SDRF, fire &amp; emergency services, civil defence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650"/>
              </a:spcBef>
              <a:spcAft>
                <a:spcPts val="0"/>
              </a:spcAft>
              <a:buClr>
                <a:srgbClr val="C9C2C0"/>
              </a:buClr>
              <a:buSzPts val="1000"/>
              <a:buFont typeface="Gelasio"/>
              <a:buNone/>
            </a:pPr>
            <a:r>
              <a:rPr b="1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Government &amp; EOCs</a:t>
            </a:r>
            <a:r>
              <a:rPr b="0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· SDMAs, municipal corporations, Emergency Operations Centers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650"/>
              </a:spcBef>
              <a:spcAft>
                <a:spcPts val="0"/>
              </a:spcAft>
              <a:buClr>
                <a:srgbClr val="C9C2C0"/>
              </a:buClr>
              <a:buSzPts val="1000"/>
              <a:buFont typeface="Gelasio"/>
              <a:buNone/>
            </a:pPr>
            <a:r>
              <a:rPr b="1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Humanitarian Orgs</a:t>
            </a:r>
            <a:r>
              <a:rPr b="0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· Indian Red Cross Society, NGOs, volunteer groups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650"/>
              </a:spcBef>
              <a:spcAft>
                <a:spcPts val="0"/>
              </a:spcAft>
              <a:buClr>
                <a:srgbClr val="C9C2C0"/>
              </a:buClr>
              <a:buSzPts val="1000"/>
              <a:buFont typeface="Gelasio"/>
              <a:buNone/>
            </a:pPr>
            <a:r>
              <a:rPr b="1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Industry &amp; Infrastructure</a:t>
            </a:r>
            <a:r>
              <a:rPr b="0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· Smart cities, airports, ports, mining, oil &amp; gas, large campuses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6263523" y="4960838"/>
            <a:ext cx="5273047" cy="19050"/>
          </a:xfrm>
          <a:prstGeom prst="roundRect">
            <a:avLst>
              <a:gd fmla="val 59999" name="adj"/>
            </a:avLst>
          </a:prstGeom>
          <a:solidFill>
            <a:srgbClr val="C9C2C0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6263523" y="5117108"/>
            <a:ext cx="5273047" cy="3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000"/>
              <a:buFont typeface="Gelasio"/>
              <a:buNone/>
            </a:pPr>
            <a:r>
              <a:rPr b="1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Stack:</a:t>
            </a:r>
            <a:r>
              <a:rPr b="0" i="0" lang="en-US" sz="1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React.js · FastAPI · PostgreSQL · Firebase · DJI/PX4 UAVs · BLE · UWB · Thermal · RFID · Cisco Meraki · Splunk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661475" y="5664602"/>
            <a:ext cx="10868700" cy="702600"/>
          </a:xfrm>
          <a:prstGeom prst="roundRect">
            <a:avLst>
              <a:gd fmla="val 4703" name="adj"/>
            </a:avLst>
          </a:prstGeom>
          <a:solidFill>
            <a:srgbClr val="54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30" y="5841107"/>
            <a:ext cx="165294" cy="13225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/>
          <p:nvPr/>
        </p:nvSpPr>
        <p:spPr>
          <a:xfrm>
            <a:off x="1091275" y="5790188"/>
            <a:ext cx="109164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lasi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GitHub:</a:t>
            </a:r>
            <a:r>
              <a:rPr b="0" i="0" lang="en-US" sz="10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1" lang="en-US" sz="1000" u="sng">
                <a:solidFill>
                  <a:schemeClr val="hlink"/>
                </a:solidFill>
                <a:latin typeface="Gelasio"/>
                <a:ea typeface="Gelasio"/>
                <a:cs typeface="Gelasio"/>
                <a:sym typeface="Gelasio"/>
                <a:hlinkClick r:id="rId7"/>
              </a:rPr>
              <a:t>Code Link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Gelasio"/>
              <a:buNone/>
            </a:pPr>
            <a:r>
              <a:rPr b="1" lang="en-US" sz="1000">
                <a:solidFill>
                  <a:schemeClr val="lt1"/>
                </a:solidFill>
                <a:latin typeface="Gelasio"/>
                <a:ea typeface="Gelasio"/>
                <a:cs typeface="Gelasio"/>
                <a:sym typeface="Gelasio"/>
              </a:rPr>
              <a:t>GitHub:</a:t>
            </a:r>
            <a:r>
              <a:rPr lang="en-US" sz="1000">
                <a:solidFill>
                  <a:schemeClr val="lt1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1" lang="en-US" sz="1000" u="sng">
                <a:solidFill>
                  <a:schemeClr val="hlink"/>
                </a:solidFill>
                <a:latin typeface="Gelasio"/>
                <a:ea typeface="Gelasio"/>
                <a:cs typeface="Gelasio"/>
                <a:sym typeface="Gelasio"/>
                <a:hlinkClick r:id="rId8"/>
              </a:rPr>
              <a:t>Live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lasio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C49F8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C49F8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